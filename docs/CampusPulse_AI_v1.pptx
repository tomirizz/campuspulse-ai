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865056671a4733" /><Relationship Type="http://schemas.openxmlformats.org/officeDocument/2006/relationships/extended-properties" Target="/docProps/app.xml" Id="R5ff3b2f4414c4a39" /><Relationship Type="http://schemas.openxmlformats.org/officeDocument/2006/relationships/officeDocument" Target="/ppt/presentation.xml" Id="R5fa568bf66374c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6ccfd3a2794fb5"/>
  </p:sldMasterIdLst>
  <p:notesMasterIdLst>
    <p:notesMasterId xmlns:r="http://schemas.openxmlformats.org/officeDocument/2006/relationships" r:id="Rc3ef456c46da43f6"/>
  </p:notesMasterIdLst>
  <p:sldIdLst>
    <p:sldId xmlns:r="http://schemas.openxmlformats.org/officeDocument/2006/relationships" id="256" r:id="Rfcf88a0c622f47fd"/>
    <p:sldId xmlns:r="http://schemas.openxmlformats.org/officeDocument/2006/relationships" id="257" r:id="R68ce593d6ef7481a"/>
    <p:sldId xmlns:r="http://schemas.openxmlformats.org/officeDocument/2006/relationships" id="258" r:id="R11b13846df78405c"/>
    <p:sldId xmlns:r="http://schemas.openxmlformats.org/officeDocument/2006/relationships" id="259" r:id="R296e88b3039f45a7"/>
    <p:sldId xmlns:r="http://schemas.openxmlformats.org/officeDocument/2006/relationships" id="260" r:id="Rfcfa5c9f187f4c94"/>
    <p:sldId xmlns:r="http://schemas.openxmlformats.org/officeDocument/2006/relationships" id="261" r:id="R73844aa864514f9f"/>
    <p:sldId xmlns:r="http://schemas.openxmlformats.org/officeDocument/2006/relationships" id="262" r:id="Raaf92859cdb04363"/>
    <p:sldId xmlns:r="http://schemas.openxmlformats.org/officeDocument/2006/relationships" id="263" r:id="Rbb938c41704146be"/>
    <p:sldId xmlns:r="http://schemas.openxmlformats.org/officeDocument/2006/relationships" id="264" r:id="R3676253c60ed49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baf7740b1143fa" /><Relationship Type="http://schemas.openxmlformats.org/officeDocument/2006/relationships/slideMaster" Target="/ppt/slideMasters/slideMaster1.xml" Id="Rac6ccfd3a2794fb5" /><Relationship Type="http://schemas.openxmlformats.org/officeDocument/2006/relationships/notesMaster" Target="/ppt/notesMasters/notesMaster1.xml" Id="Rc3ef456c46da43f6" /><Relationship Type="http://schemas.openxmlformats.org/officeDocument/2006/relationships/presProps" Target="/ppt/presProps.xml" Id="R09346e5956d94334" /><Relationship Type="http://schemas.openxmlformats.org/officeDocument/2006/relationships/tableStyles" Target="/ppt/tableStyles.xml" Id="Rb9f2882147dc4b9e" /><Relationship Type="http://schemas.openxmlformats.org/officeDocument/2006/relationships/slide" Target="/ppt/slides/slide1.xml" Id="Rfcf88a0c622f47fd" /><Relationship Type="http://schemas.openxmlformats.org/officeDocument/2006/relationships/slide" Target="/ppt/slides/slide2.xml" Id="R68ce593d6ef7481a" /><Relationship Type="http://schemas.openxmlformats.org/officeDocument/2006/relationships/slide" Target="/ppt/slides/slide3.xml" Id="R11b13846df78405c" /><Relationship Type="http://schemas.openxmlformats.org/officeDocument/2006/relationships/slide" Target="/ppt/slides/slide4.xml" Id="R296e88b3039f45a7" /><Relationship Type="http://schemas.openxmlformats.org/officeDocument/2006/relationships/slide" Target="/ppt/slides/slide5.xml" Id="Rfcfa5c9f187f4c94" /><Relationship Type="http://schemas.openxmlformats.org/officeDocument/2006/relationships/slide" Target="/ppt/slides/slide6.xml" Id="R73844aa864514f9f" /><Relationship Type="http://schemas.openxmlformats.org/officeDocument/2006/relationships/slide" Target="/ppt/slides/slide7.xml" Id="Raaf92859cdb04363" /><Relationship Type="http://schemas.openxmlformats.org/officeDocument/2006/relationships/slide" Target="/ppt/slides/slide8.xml" Id="Rbb938c41704146be" /><Relationship Type="http://schemas.openxmlformats.org/officeDocument/2006/relationships/slide" Target="/ppt/slides/slide9.xml" Id="R3676253c60ed49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849f211e134d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66b0eab2304001" /><Relationship Type="http://schemas.openxmlformats.org/officeDocument/2006/relationships/notesMaster" Target="/ppt/notesMasters/notesMaster1.xml" Id="R5c377e48b1d24f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f82680d6a74f2c" /><Relationship Type="http://schemas.openxmlformats.org/officeDocument/2006/relationships/notesMaster" Target="/ppt/notesMasters/notesMaster1.xml" Id="Rd1293c08729447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8dc41a01094c32" /><Relationship Type="http://schemas.openxmlformats.org/officeDocument/2006/relationships/notesMaster" Target="/ppt/notesMasters/notesMaster1.xml" Id="Rd4cceddfbe984e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3ed7cf39a04fcf" /><Relationship Type="http://schemas.openxmlformats.org/officeDocument/2006/relationships/notesMaster" Target="/ppt/notesMasters/notesMaster1.xml" Id="Rd682619788d648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27282a084f412a" /><Relationship Type="http://schemas.openxmlformats.org/officeDocument/2006/relationships/notesMaster" Target="/ppt/notesMasters/notesMaster1.xml" Id="R2ebb5eabff5642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e5568782ee4e37" /><Relationship Type="http://schemas.openxmlformats.org/officeDocument/2006/relationships/notesMaster" Target="/ppt/notesMasters/notesMaster1.xml" Id="Rf1d28549430c47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2b819359a44185" /><Relationship Type="http://schemas.openxmlformats.org/officeDocument/2006/relationships/notesMaster" Target="/ppt/notesMasters/notesMaster1.xml" Id="R993d5b0376bf47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2183174c4a419b" /><Relationship Type="http://schemas.openxmlformats.org/officeDocument/2006/relationships/notesMaster" Target="/ppt/notesMasters/notesMaster1.xml" Id="R526f10e38d3146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d5375b3ffe4b8a" /><Relationship Type="http://schemas.openxmlformats.org/officeDocument/2006/relationships/notesMaster" Target="/ppt/notesMasters/notesMaster1.xml" Id="R1d55d80d9eab43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Вступление, 25 секунд. CampusPulse помогает студенту собрать дедлайны, материалы и следующий учебный шаг. Это презентация первой версии. Облачный запуск отложен владельцем; не заявлять, что Agent Engine уже развёрнут. Источник требований: FINAL Задачи_хакатона.docx.pdf, кейс 2, страницы 3–4.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секунд. Покажите локальное приложение. Задание на снимке обозначено как учебный пример. Данные не взяты из университета и не выдаются за реальные. Снимок сделан при проверке приложения 16 октября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секунд. План и извлечение текста работают локально. Анализ материала на Gemini требует подключения модели. GitHub реально проверен через сеть; issues не превращаются в выдуманные дедлайны.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секунд. Локально frontend и agent core вызывает FastAPI. В облачной конфигурации Cloud Run хранит данные сессии в Firestore и вызывает Agent Engine. Модель выбирает инструмент. MCP-клиент использует JSON-RPC по stdio и отдельный Python-процесс. Локальное хранение — SQLite. Облачный маршрут пока не проверен живьём. Источники: https://googleapis.github.io/python-genai/ ; https://github.com/modelcontextprotocol/python-sdk ; https://docs.cloud.google.com/python/docs/reference/vertexai/latest/vertexai.preview.reasoning_engines.ReasoningEngine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секунд. Показать реальную трассу в приложении. Важно: журнал демонстрирует наблюдаемые действия, а не скрытые размышления модели. Контракт циклической работы Gemini проверен тестами с подменой на границе SDK; это не живой инференс. Оригинальные tool-call IDs и thought signatures сохраняются внутри запроса. Источник: https://googleapis.github.io/python-genai/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секунд. Проект campuspulse-ai-511817 создан в Google Cloud. Биллинг не подключён, и владелец решил запускать облако позже. Скрипты включены в репозиторий, но не объявляются доказательством деплоя. Успешный verify_cloud.py должен подтвердить API и два MCP-вызова. Цены и кредиты проверять для конкретного аккаунта. Источники: https://docs.cloud.google.com/python/docs/reference/vertexai/latest/vertexai.preview.reasoning_engines.ReasoningEngine ; https://cloud.google.com/pricing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 секунд. Результат текущего тестового запуска: 35 passed, 1 live test deselected. Отдельно: 1 passed для реального GitHub через MCP. Контейнер не запускался: Docker daemon был выключен. Для полного выполнения ТЗ требуется живой облачный запуск, а не только наличие скриптов.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 секунд. Материалы отправляются Google только при вызове Gemini; пользователь видит это в интерфейсе. Содержимое документов и issues недоверенное. Сервер не выполняет команды оболочки и не открывает произвольные URL. Cookie-сессия первой версии не заменяет полноценные аккаунты; публичное распространение требует авторизации и квот.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секунд. Ссылка на исходный код: https://github.com/tomirizz/campuspulse-ai . Репозиторий закрытый; доступ жюри выдаётся отдельно владельцем. Не обещать интеграцию с LMS как уже сделанную. Цель следующего дня — закрыть остающееся обязательное облачное требование и проверить устойчивость демонстрации.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914c2aa9c4c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5098075e3c4d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f51a9451af44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8d5f6bd13c4b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4b9848fb4040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bd3e87fe184f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8F4EAD-C558-410D-90B7-C2F1F6E334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E376A82-BB24-482A-BE3B-0F31A48EC4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904EB3-9A8C-48E8-AB4D-D71523C31E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B7DFB1-22CE-4CB2-8504-511445B2AA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48EC6C-59B5-4080-A2DB-026A135E38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29E196C-6922-4AA8-9EC2-AF5951AA9D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C1CC5F-4B5B-4D2A-BEBE-D56FF7DDC0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84820E6-9AB0-46E4-8DF5-34B81BF323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64E9F0-227C-420F-AA21-6A3900D6B5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E28693-2B41-4EB1-9A5C-79FD489B42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26cf08bd344572" /><Relationship Type="http://schemas.openxmlformats.org/officeDocument/2006/relationships/slideLayout" Target="/ppt/slideLayouts/slideLayout1.xml" Id="R8facc547b91b4fcb" /><Relationship Type="http://schemas.openxmlformats.org/officeDocument/2006/relationships/slideLayout" Target="/ppt/slideLayouts/slideLayout2.xml" Id="R0ee9edeaa327455b" /><Relationship Type="http://schemas.openxmlformats.org/officeDocument/2006/relationships/slideLayout" Target="/ppt/slideLayouts/slideLayout3.xml" Id="R69f2c4ca1b5f4e46" /><Relationship Type="http://schemas.openxmlformats.org/officeDocument/2006/relationships/slideLayout" Target="/ppt/slideLayouts/slideLayout4.xml" Id="Rfb7fd014d2a2497e" /><Relationship Type="http://schemas.openxmlformats.org/officeDocument/2006/relationships/slideLayout" Target="/ppt/slideLayouts/slideLayout5.xml" Id="R32a493c14cfa4949" /><Relationship Type="http://schemas.openxmlformats.org/officeDocument/2006/relationships/slideLayout" Target="/ppt/slideLayouts/slideLayout6.xml" Id="R11f269acabba4e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acc547b91b4fcb"/>
    <p:sldLayoutId xmlns:r="http://schemas.openxmlformats.org/officeDocument/2006/relationships" id="2147483650" r:id="R0ee9edeaa327455b"/>
    <p:sldLayoutId xmlns:r="http://schemas.openxmlformats.org/officeDocument/2006/relationships" id="2147483651" r:id="R69f2c4ca1b5f4e46"/>
    <p:sldLayoutId xmlns:r="http://schemas.openxmlformats.org/officeDocument/2006/relationships" id="2147483652" r:id="Rfb7fd014d2a2497e"/>
    <p:sldLayoutId xmlns:r="http://schemas.openxmlformats.org/officeDocument/2006/relationships" id="2147483653" r:id="R32a493c14cfa4949"/>
    <p:sldLayoutId xmlns:r="http://schemas.openxmlformats.org/officeDocument/2006/relationships" id="2147483654" r:id="R11f269acabba4e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8a5460881544dc" /><Relationship Type="http://schemas.openxmlformats.org/officeDocument/2006/relationships/notesSlide" Target="/ppt/notesSlides/notesSlide1.xml" Id="R5286c96fb3f14c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8904afba7d4b1e" /><Relationship Type="http://schemas.openxmlformats.org/officeDocument/2006/relationships/image" Target="/ppt/media/image.jpeg" Id="R9f6ba29e2a3f48d6" /><Relationship Type="http://schemas.openxmlformats.org/officeDocument/2006/relationships/notesSlide" Target="/ppt/notesSlides/notesSlide2.xml" Id="Rd8dafcfd5fad49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01dafc35734e60" /><Relationship Type="http://schemas.openxmlformats.org/officeDocument/2006/relationships/notesSlide" Target="/ppt/notesSlides/notesSlide3.xml" Id="R84cee855f3b746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07b5299a9842c8" /><Relationship Type="http://schemas.openxmlformats.org/officeDocument/2006/relationships/notesSlide" Target="/ppt/notesSlides/notesSlide4.xml" Id="Re147e230237a4b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e24af1cbed4725" /><Relationship Type="http://schemas.openxmlformats.org/officeDocument/2006/relationships/notesSlide" Target="/ppt/notesSlides/notesSlide5.xml" Id="R76aa27fa80774c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f9e1d309db4764" /><Relationship Type="http://schemas.openxmlformats.org/officeDocument/2006/relationships/notesSlide" Target="/ppt/notesSlides/notesSlide6.xml" Id="Ra95261a1e15b49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cf9a570a984585" /><Relationship Type="http://schemas.openxmlformats.org/officeDocument/2006/relationships/notesSlide" Target="/ppt/notesSlides/notesSlide7.xml" Id="Rb006f0c0e1154b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3692d8a9f9460c" /><Relationship Type="http://schemas.openxmlformats.org/officeDocument/2006/relationships/notesSlide" Target="/ppt/notesSlides/notesSlide8.xml" Id="R3fc4a34a08cf4f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2a19ebd89e4628" /><Relationship Type="http://schemas.openxmlformats.org/officeDocument/2006/relationships/notesSlide" Target="/ppt/notesSlides/notesSlide9.xml" Id="Rdf6b09af6aed4b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F834C39-8C85-4B6B-A7B4-B7DA724C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6600" b="1">
                <a:solidFill>
                  <a:srgbClr val="E5EFD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6600" b="1">
                <a:solidFill>
                  <a:srgbClr val="E5EF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1">
                <a:solidFill>
                  <a:srgbClr val="E5EFD3"/>
                </a:solidFill>
                <a:latin typeface="Helvetica Neue"/>
                <a:ea typeface="Helvetica Neue"/>
                <a:cs typeface="Helvetica Neue"/>
              </a:rPr>
              <a:t>CampusPulse AI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F375FAE-0D95-4D0A-9B21-BB403413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0">
                <a:solidFill>
                  <a:srgbClr val="C6DAB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C6DA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C6DAB7"/>
                </a:solidFill>
                <a:latin typeface="Helvetica Neue"/>
                <a:ea typeface="Helvetica Neue"/>
                <a:cs typeface="Helvetica Neue"/>
              </a:rPr>
              <a:t>Учебная неделя, которую можно выполнить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021EB04-1F33-43E3-8290-56C3D2C5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38625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91B39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91B3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91B399"/>
                </a:solidFill>
                <a:latin typeface="Helvetica Neue"/>
                <a:ea typeface="Helvetica Neue"/>
                <a:cs typeface="Helvetica Neue"/>
              </a:rPr>
              <a:t>Gemini · MCP · Google Cloud Agent Engine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6BE0C5E-BA2F-484A-A55D-AD05570C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96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AFC7A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FC7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FC7AF"/>
                </a:solidFill>
                <a:latin typeface="Helvetica Neue"/>
                <a:ea typeface="Helvetica Neue"/>
                <a:cs typeface="Helvetica Neue"/>
              </a:rPr>
              <a:t>GDG Astana / Build with AI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8C3F32C-2B3E-439C-AB44-F870A301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AFC7A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FC7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FC7AF"/>
                </a:solidFill>
                <a:latin typeface="Helvetica Neue"/>
                <a:ea typeface="Helvetica Neue"/>
                <a:cs typeface="Helvetica Neue"/>
              </a:rPr>
              <a:t>Локальная v0.1 · 16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9979960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418E0B6E-4E9C-4A33-9F0D-BEAA0BF2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Учебная нагрузка в одном пространстве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6049E52-10A7-4011-A1DE-D0333943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D506E8-6CA0-4234-B92E-3D57BFE7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Что сдавать дальше?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45906E1-DE17-4485-A274-DC6653F6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Задания с датами, длительностью</a:t>
            </a:r>
          </a:p>
          <a:p xmlns:a="http://schemas.openxmlformats.org/drawingml/2006/main">
            <a:pPr>
              <a:defRPr sz="202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и приоритетом показывают ближайший срок.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5C6A66A-0D36-49FE-8BC6-B95615B9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Когда это успеть?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4FD3F0F-0E99-418E-B574-15CD3084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590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План учитывает доступные часы</a:t>
            </a:r>
          </a:p>
          <a:p xmlns:a="http://schemas.openxmlformats.org/drawingml/2006/main">
            <a:pPr>
              <a:defRPr sz="202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и сообщает, если времени не хватает.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FCEE4-0BC2-42AD-893D-82396BA636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ba29e2a3f48d6"/>
          <a:stretch xmlns:a="http://schemas.openxmlformats.org/drawingml/2006/main"/>
        </p:blipFill>
        <p:spPr>
          <a:xfrm xmlns:a="http://schemas.openxmlformats.org/drawingml/2006/main">
            <a:off x="7048500" y="2281907"/>
            <a:ext cx="4476750" cy="35324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6400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61BA42FD-7B7D-4948-9646-A8A6C79F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Три учебных сценария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88AF235-D294-4CFD-838A-92DA4D0D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AA128D8-571C-4D05-A72C-747E0696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CD58DFE-A566-4737-8902-08663AD9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19325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Реалистичный план недели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D41DFCE-BD2A-46F8-A41B-60233A77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432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Дедлайны + оценки времени + занятые интервалы → учебные блоки и риски.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4B7898D-5211-40A7-99EC-DB4B3F21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3DF97BA-4093-453B-981E-BE553755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52825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Материалы лекций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D44D385-EAAA-4A52-8F5A-4E008BFF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767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Свой PDF или конспект → чтение страниц → ответ Gemini с источником.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425923A-9CDA-4241-BDED-F390176A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0EA6ADF-6DC0-49CD-BA5E-BA76D0E8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86325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Задания из GitHub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BFA410E-1F48-4142-AD2D-E0B87E59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102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Публичный репозиторий → актуальные issues через настоящий MCP-сервер.</a:t>
            </a:r>
          </a:p>
        </p:txBody>
      </p:sp>
    </p:spTree>
    <p:extLst>
      <p:ext uri="{BB962C8B-B14F-4D97-AF65-F5344CB8AC3E}">
        <p14:creationId xmlns:p14="http://schemas.microsoft.com/office/powerpoint/2010/main" val="5423475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03B6A70-A2F3-44AF-B737-662C171E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Архитектура приложения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FBC3BAD-7DEC-4DA8-B4A0-66335B1F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Один agent core для локального запуска и Google Cloud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439A8AB-921D-4AAE-801D-8461B891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D72E47E-6E37-49E9-910A-50FF06A4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Веб-интерфейс  →  FastAPI / Cloud Run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75E28BE-2C99-4862-9284-3041572C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                              ↓ OAuth-запрос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C84F193-00E4-4DF0-8165-EFAF3FDD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Agent Engine  →  Gemini  →  выбор инструмента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34A71ED-82F9-48C5-812C-206FE7E5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MCP stdio → GitHub API / время</a:t>
            </a:r>
          </a:p>
          <a:p xmlns:a="http://schemas.openxmlformats.org/drawingml/2006/main">
            <a:pPr>
              <a:defRPr sz="202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Custom functions → план / материалы / предложение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18731514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D0CEB32-38B7-4391-B6F4-0AAA9C4A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Цикл агента и наблюдаемые действия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3622068-C1BF-4D37-B7BD-ECF9D31A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AB25A8-3590-499F-8297-DB697EA4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625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Запрос → выбор tool → результат → следующий шаг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493C129-7A27-4671-89B4-03C49465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Gemini получает схемы через MCP discovery.</a:t>
            </a:r>
          </a:p>
          <a:p xmlns:a="http://schemas.openxmlformats.org/drawingml/2006/main">
            <a:pPr>
              <a:defRPr sz="21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Приложение проверяет имя и аргументы инструмента.</a:t>
            </a:r>
          </a:p>
          <a:p xmlns:a="http://schemas.openxmlformats.org/drawingml/2006/main">
            <a:pPr>
              <a:defRPr sz="21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Результат возвращается модели для следующего действия.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C75AF82-7205-4656-885F-C28B9C3F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В журнале: инструмент, аргументы, источник, статус и длительность.</a:t>
            </a:r>
          </a:p>
          <a:p xmlns:a="http://schemas.openxmlformats.org/drawingml/2006/main">
            <a:pPr>
              <a:defRPr sz="1875" b="0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Лимит: 8 раундов модели и 12 вызовов инструментов.</a:t>
            </a:r>
          </a:p>
        </p:txBody>
      </p:sp>
    </p:spTree>
    <p:extLst>
      <p:ext uri="{BB962C8B-B14F-4D97-AF65-F5344CB8AC3E}">
        <p14:creationId xmlns:p14="http://schemas.microsoft.com/office/powerpoint/2010/main" val="2568928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9A20F6DB-2A54-478E-8994-7A82D105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Google Cloud: подготовленный путь запуска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7355402-5F0F-46B3-ADC6-2B0CE726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Облачный запуск отложен до подключения биллинга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16D4B69-948D-4958-B5BB-08E7B4BF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D6F4A34-9820-4A9B-A798-49A13AAB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225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D639BB5-F716-4E13-B2C5-19F1CE53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3362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Доступ и инфраструктура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B442334-AFC2-4489-9332-926F3281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146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Биллинг, ADC, Vertex AI API, staging bucket и Firestore.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2992BBD-7F09-4613-A7AE-AC799BA1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225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FECB43C-9733-45BD-8CFC-B9C9060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766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Развёртывание Agent Engine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9EB3D75-BD67-4566-92CD-7EE00A2C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5767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reasoning_engines.ReasoningEngine.create(...)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22E2E9B-0C9A-4973-A966-F13B4FDD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225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4731D50-0C0B-43D9-8201-2867FDD7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1967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Проверка API и запуск интерфейса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92CBAD12-9709-421F-8EC8-5B26CD6F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6007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Живой :query с MCP-трассой → приватный Cloud Run.</a:t>
            </a:r>
          </a:p>
        </p:txBody>
      </p:sp>
    </p:spTree>
    <p:extLst>
      <p:ext uri="{BB962C8B-B14F-4D97-AF65-F5344CB8AC3E}">
        <p14:creationId xmlns:p14="http://schemas.microsoft.com/office/powerpoint/2010/main" val="14326979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A6179249-3272-4EE6-A434-E860F660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Проверено и ещё предстоит проверить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328DF4-AC73-4D2F-A757-37B5DFD2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75E3038-FF72-4EFB-BE5A-36D9D3C2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Проверено локально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13F3498-1199-43D3-AD13-25F0F436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4953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35 автоматических проверок</a:t>
            </a:r>
          </a:p>
          <a:p xmlns:a="http://schemas.openxmlformats.org/drawingml/2006/main">
            <a:pPr>
              <a:defRPr sz="21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Реальный GitHub-запрос через MCP</a:t>
            </a:r>
          </a:p>
          <a:p xmlns:a="http://schemas.openxmlformats.org/drawingml/2006/main">
            <a:pPr>
              <a:defRPr sz="21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Формы, план и загрузка материала</a:t>
            </a:r>
          </a:p>
          <a:p xmlns:a="http://schemas.openxmlformats.org/drawingml/2006/main">
            <a:pPr>
              <a:defRPr sz="21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Изоляция браузерных сессий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AC89A31-DB0A-41A1-9AFC-3C0A783B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После подключения облака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6692F94-8E6F-4534-95A0-ABE8303B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4953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Живой ответ Gemini</a:t>
            </a:r>
          </a:p>
          <a:p xmlns:a="http://schemas.openxmlformats.org/drawingml/2006/main">
            <a:pPr>
              <a:defRPr sz="21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Удалённый Agent Engine API</a:t>
            </a:r>
          </a:p>
          <a:p xmlns:a="http://schemas.openxmlformats.org/drawingml/2006/main">
            <a:pPr>
              <a:defRPr sz="21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Cloud Run + Firestore</a:t>
            </a:r>
          </a:p>
          <a:p xmlns:a="http://schemas.openxmlformats.org/drawingml/2006/main">
            <a:pPr>
              <a:defRPr sz="21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Доступ к демонстрации для судей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567EC9A-A919-48C9-AB91-4523607C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007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Тестовая подмена Gemini SDK не считается доказательством живого ИИ.</a:t>
            </a:r>
          </a:p>
        </p:txBody>
      </p:sp>
    </p:spTree>
    <p:extLst>
      <p:ext uri="{BB962C8B-B14F-4D97-AF65-F5344CB8AC3E}">
        <p14:creationId xmlns:p14="http://schemas.microsoft.com/office/powerpoint/2010/main" val="20556782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C0D6678D-41B8-4DC1-A4D0-41F3D563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Контроль пользователя и честные ограничения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CC91ECD-9705-4AF0-A8E5-1786F12C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A695AFE-3440-4370-8AA2-A700754F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9287603-4B2F-4EC8-8965-D6ADACBF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19325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Изменения требуют подтверждения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0D42D6F-FBFF-4204-A369-202BFEB4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432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Агент предлагает задание. Пользователь проверяет поля и сохраняет его.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31692A7-FC90-4926-BE0A-CEA76C25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2E91A8E-E5CF-4D3E-B17D-1A0B15D4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52825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Ошибки и перегрузка видны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7CD873D-0078-463E-8472-25BF2704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767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Недоступный API, просроченный дедлайн и нехватка времени не скрываются.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C0A325D-E20D-4242-8DFA-00B07D16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9FBD7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3AAE1CD-DAB8-4EB4-A6EB-23D9BAF7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86325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13D30"/>
                </a:solidFill>
                <a:latin typeface="Helvetica Neue"/>
                <a:ea typeface="Helvetica Neue"/>
                <a:cs typeface="Helvetica Neue"/>
              </a:rPr>
              <a:t>Источники и доступ ограничены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A1002CF-1B85-4934-92F3-45CDE772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102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D7C63"/>
                </a:solidFill>
                <a:latin typeface="Helvetica Neue"/>
                <a:ea typeface="Helvetica Neue"/>
                <a:cs typeface="Helvetica Neue"/>
              </a:rPr>
              <a:t>Только своё пространство и публичный GitHub. Сканы требуют OCR.</a:t>
            </a:r>
          </a:p>
        </p:txBody>
      </p:sp>
    </p:spTree>
    <p:extLst>
      <p:ext uri="{BB962C8B-B14F-4D97-AF65-F5344CB8AC3E}">
        <p14:creationId xmlns:p14="http://schemas.microsoft.com/office/powerpoint/2010/main" val="2264615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3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F7E8C0ED-0844-40E3-B7CC-7554F707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00" b="1">
                <a:solidFill>
                  <a:srgbClr val="E5EFD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E5EF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E5EFD3"/>
                </a:solidFill>
                <a:latin typeface="Helvetica Neue"/>
                <a:ea typeface="Helvetica Neue"/>
                <a:cs typeface="Helvetica Neue"/>
              </a:rPr>
              <a:t>Следующий шаг — рабочее облачное демо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DE1A3EB-BBB1-4D06-94E9-FE1A105B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AFC7A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FC7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FC7AF"/>
                </a:solidFill>
                <a:latin typeface="Helvetica Neue"/>
                <a:ea typeface="Helvetica Neue"/>
                <a:cs typeface="Helvetica Neue"/>
              </a:rPr>
              <a:t>Сначала закрываем обязательный облачный пункт, затем расширяем продукт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41C0351-2F57-4872-917E-8DAC227D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AFC7A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FC7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FC7AF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8FD93A6-3FE2-462E-BCCE-D1E5905C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000" b="1">
                <a:solidFill>
                  <a:srgbClr val="E5EFD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E5EF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E5EFD3"/>
                </a:solidFill>
                <a:latin typeface="Helvetica Neue"/>
                <a:ea typeface="Helvetica Neue"/>
                <a:cs typeface="Helvetica Neue"/>
              </a:rPr>
              <a:t>Подключить Google Cloud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197DE14-2C08-48E3-904F-1F61A44D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BED3B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BED3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BED3B5"/>
                </a:solidFill>
                <a:latin typeface="Helvetica Neue"/>
                <a:ea typeface="Helvetica Neue"/>
                <a:cs typeface="Helvetica Neue"/>
              </a:rPr>
              <a:t>Получить настоящий ответ Gemini, проверить MCP в Agent Engine</a:t>
            </a:r>
          </a:p>
          <a:p xmlns:a="http://schemas.openxmlformats.org/drawingml/2006/main">
            <a:pPr>
              <a:defRPr sz="2175" b="0">
                <a:solidFill>
                  <a:srgbClr val="BED3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BED3B5"/>
                </a:solidFill>
                <a:latin typeface="Helvetica Neue"/>
                <a:ea typeface="Helvetica Neue"/>
                <a:cs typeface="Helvetica Neue"/>
              </a:rPr>
              <a:t>и открыть интерфейс через Cloud Run.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CEC06BB-3C93-456E-A9B4-77F5C745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AFC7A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AFC7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FC7AF"/>
                </a:solidFill>
                <a:latin typeface="Helvetica Neue"/>
                <a:ea typeface="Helvetica Neue"/>
                <a:cs typeface="Helvetica Neue"/>
              </a:rPr>
              <a:t>Далее: вход в аккаунт, обратная связь студентов, одна LMS-интеграция.</a:t>
            </a:r>
          </a:p>
        </p:txBody>
      </p:sp>
    </p:spTree>
    <p:extLst>
      <p:ext uri="{BB962C8B-B14F-4D97-AF65-F5344CB8AC3E}">
        <p14:creationId xmlns:p14="http://schemas.microsoft.com/office/powerpoint/2010/main" val="88242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2026-10-16T17:51:02.7280000Z</dcterms:created>
  <dcterms:modified xsi:type="dcterms:W3CDTF">2026-10-16T17:51:02.7280000Z</dcterms:modified>
</coreProperties>
</file>