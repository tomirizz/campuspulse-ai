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1f2c39da3e40a3" /><Relationship Type="http://schemas.openxmlformats.org/officeDocument/2006/relationships/extended-properties" Target="/docProps/app.xml" Id="R64e9d10ebe724673" /><Relationship Type="http://schemas.openxmlformats.org/officeDocument/2006/relationships/officeDocument" Target="/ppt/presentation.xml" Id="R27f7eb347d364b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bb86909ce7489d"/>
  </p:sldMasterIdLst>
  <p:notesMasterIdLst>
    <p:notesMasterId xmlns:r="http://schemas.openxmlformats.org/officeDocument/2006/relationships" r:id="R8d41820341514fca"/>
  </p:notesMasterIdLst>
  <p:sldIdLst>
    <p:sldId xmlns:r="http://schemas.openxmlformats.org/officeDocument/2006/relationships" id="256" r:id="Rabff852c2b4c4f6d"/>
    <p:sldId xmlns:r="http://schemas.openxmlformats.org/officeDocument/2006/relationships" id="257" r:id="R875203a642f5469c"/>
    <p:sldId xmlns:r="http://schemas.openxmlformats.org/officeDocument/2006/relationships" id="258" r:id="Rdab0a4d816c94c21"/>
    <p:sldId xmlns:r="http://schemas.openxmlformats.org/officeDocument/2006/relationships" id="259" r:id="Rc528f77b364f479f"/>
    <p:sldId xmlns:r="http://schemas.openxmlformats.org/officeDocument/2006/relationships" id="260" r:id="R7d3626ed07474438"/>
    <p:sldId xmlns:r="http://schemas.openxmlformats.org/officeDocument/2006/relationships" id="261" r:id="R6d18c1ba54ad49f3"/>
    <p:sldId xmlns:r="http://schemas.openxmlformats.org/officeDocument/2006/relationships" id="262" r:id="R5391e721cb7a4ff8"/>
    <p:sldId xmlns:r="http://schemas.openxmlformats.org/officeDocument/2006/relationships" id="263" r:id="R7c3eef8cd4ef492c"/>
    <p:sldId xmlns:r="http://schemas.openxmlformats.org/officeDocument/2006/relationships" id="264" r:id="R2e863257a9a340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e63287549e4dd1" /><Relationship Type="http://schemas.openxmlformats.org/officeDocument/2006/relationships/slideMaster" Target="/ppt/slideMasters/slideMaster1.xml" Id="Rf9bb86909ce7489d" /><Relationship Type="http://schemas.openxmlformats.org/officeDocument/2006/relationships/notesMaster" Target="/ppt/notesMasters/notesMaster1.xml" Id="R8d41820341514fca" /><Relationship Type="http://schemas.openxmlformats.org/officeDocument/2006/relationships/presProps" Target="/ppt/presProps.xml" Id="Rf1a70777f02f4305" /><Relationship Type="http://schemas.openxmlformats.org/officeDocument/2006/relationships/tableStyles" Target="/ppt/tableStyles.xml" Id="Rcae8132901bc4724" /><Relationship Type="http://schemas.openxmlformats.org/officeDocument/2006/relationships/slide" Target="/ppt/slides/slide1.xml" Id="Rabff852c2b4c4f6d" /><Relationship Type="http://schemas.openxmlformats.org/officeDocument/2006/relationships/slide" Target="/ppt/slides/slide2.xml" Id="R875203a642f5469c" /><Relationship Type="http://schemas.openxmlformats.org/officeDocument/2006/relationships/slide" Target="/ppt/slides/slide3.xml" Id="Rdab0a4d816c94c21" /><Relationship Type="http://schemas.openxmlformats.org/officeDocument/2006/relationships/slide" Target="/ppt/slides/slide4.xml" Id="Rc528f77b364f479f" /><Relationship Type="http://schemas.openxmlformats.org/officeDocument/2006/relationships/slide" Target="/ppt/slides/slide5.xml" Id="R7d3626ed07474438" /><Relationship Type="http://schemas.openxmlformats.org/officeDocument/2006/relationships/slide" Target="/ppt/slides/slide6.xml" Id="R6d18c1ba54ad49f3" /><Relationship Type="http://schemas.openxmlformats.org/officeDocument/2006/relationships/slide" Target="/ppt/slides/slide7.xml" Id="R5391e721cb7a4ff8" /><Relationship Type="http://schemas.openxmlformats.org/officeDocument/2006/relationships/slide" Target="/ppt/slides/slide8.xml" Id="R7c3eef8cd4ef492c" /><Relationship Type="http://schemas.openxmlformats.org/officeDocument/2006/relationships/slide" Target="/ppt/slides/slide9.xml" Id="R2e863257a9a340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ed11c8d984b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0eeaf30c58423c" /><Relationship Type="http://schemas.openxmlformats.org/officeDocument/2006/relationships/notesMaster" Target="/ppt/notesMasters/notesMaster1.xml" Id="R1bfd7ab972b349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d42b000a3a44b7" /><Relationship Type="http://schemas.openxmlformats.org/officeDocument/2006/relationships/notesMaster" Target="/ppt/notesMasters/notesMaster1.xml" Id="Re95edc12b9ff4e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c65a08aba746c8" /><Relationship Type="http://schemas.openxmlformats.org/officeDocument/2006/relationships/notesMaster" Target="/ppt/notesMasters/notesMaster1.xml" Id="Ra59b3ce42b4d4d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d73289f0f240b6" /><Relationship Type="http://schemas.openxmlformats.org/officeDocument/2006/relationships/notesMaster" Target="/ppt/notesMasters/notesMaster1.xml" Id="R5510ef45fdba47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91b559cdad45f6" /><Relationship Type="http://schemas.openxmlformats.org/officeDocument/2006/relationships/notesMaster" Target="/ppt/notesMasters/notesMaster1.xml" Id="Rc4b7651af7b44e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2fcabe6fb84bf2" /><Relationship Type="http://schemas.openxmlformats.org/officeDocument/2006/relationships/notesMaster" Target="/ppt/notesMasters/notesMaster1.xml" Id="Rcc58008e0b0349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562228b1a4493f" /><Relationship Type="http://schemas.openxmlformats.org/officeDocument/2006/relationships/notesMaster" Target="/ppt/notesMasters/notesMaster1.xml" Id="Rde25bdbe9cad4f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867dd114d74efd" /><Relationship Type="http://schemas.openxmlformats.org/officeDocument/2006/relationships/notesMaster" Target="/ppt/notesMasters/notesMaster1.xml" Id="Rc9b45bde5fdb4b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5df877ca3a4ef2" /><Relationship Type="http://schemas.openxmlformats.org/officeDocument/2006/relationships/notesMaster" Target="/ppt/notesMasters/notesMaster1.xml" Id="Rb8f514351ac84b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CampusPulse AI. Хакатонный прототип для учебного планирования. Источники: требования кейса из предоставленного пользователем текста; локальная реализация campuspulse/academic.py, academic_planner.py, academic_import.py. Статус Google Cloud отдельно раскрывается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сформулирована в тексте кейса и запросе пользователя. Количественных исследований или заявлений об улучшении успеваемости нет. В текущем прототипе результаты рассчитываются из явно подтверждённых весов и введённых студентом оценок.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реальный локальный интерфейс CampusPulse, снятый 20.10.2026 после явного добавления учебного примера. Файл .presentation-build/defense-overview.png. Пример включает HPC, Computational Mathematics, Academic Writing и Statistics. Все оценки и расписание демонстрационные, каждый объект помечен и удаляется отдельной командой удаления примера. Личные данные сохраняются.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присланные пользователем страницы силлабуса High Performance Computing. Внешняя формула: 0.3 × 1st Att + 0.3 × 2nd Att + 0.4 × Final. Внутри первой аттестации: Assignment 1 = 40, Mid Term = 60. Во второй: Assignment 2 = 20, Assignment 3 = 20, End Term = 60. Вклад в итог: 12 + 18 + 6 + 6 + 18 + 40 = 100. Код: campuspulse/academic_import.py. Каждая строка импортера хранит source_quote.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Демонстрационный сценарий на подтверждённых весах HPC. Студент получил 75/100 за Assignment 1 (вес 12%) и 80/100 за Midterm (18%). Набрано 75×.12+80×.18=23.4 итоговых балла. Проверенный вес30%, текущий средний78%. Максимум=23.4+70=93.4. Цель95 недостижима, следующая90. Требуется средний (90−23.4)/70×100=95.142857…%. Равномерный план округляет каждую оставшуюся оценку вверх до96/100, итог90.6. Условные минимумы44,44,82,92 предполагают100 на всех других работах и не составляют совместный план. Код campuspulse/academic.py использует точную рациональную арифметику.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действующий локальный Notebook CampusPulse, .presentation-build/defense-notebook.png. Код campuspulse/notebooks.py, notebook_api.py, notebook_ai.py и web/notebook.js. Локальный режим строит экстрактивный конспект и вопросы из цитат выбранного источника. Для каждого фрагмента сохраняются материал, страница и цитата. Демо-материалы явно обозначены, они не выдаются за реальные лекции пользователя. Gemini-обработка доступна после действительной настройки и успешного вызова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реальный интерфейс .presentation-build/defense-calendar.png. Код campuspulse/calendar_api.py и web/calendar_studio.js. По умолчанию календарь показывает неделю и ближайший непустой день. События: local, google, study, deadline и imported. Создание, изменение, удаление, важные дела, занятия и еженедельное повторение работают локально. Занятые часы исключаются из учебного плана. Google-синхронизация требует явного OAuth-входа пользователя. Конфигурация OAuth не доказывает успешную синхронизацию.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campuspulse/agent.py, tools.py, mcp_server.py и server.py. Веб-клиент использует FastAPI и сессию пользователя. Gemini gemini_run выбирает function_calls, ToolHub проверяет аргументы, исполняет инструмент и передаёт function_response в следующую итерацию. До8 итераций и12 вызовов. Custom Function Calling: academic_overview, academic_plan, syllabus_weights. Реальный MCP stdio сервер current_time обнаруживается через list_tools и вызывается call_tool. SQLite/Firestore хранят данные отдельно для каждой сессии. Публичный trace показывает вызовы и результаты, а не скрытые рассуждения. Live Gemini и GCP требуют отдельной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Статус на момент сборки: пользователь сообщил projectID campuspulse-ai-511817. Подтверждённого deployment.json с api_verified=true и evidence/live-cloud.json нет. Скрипты проекта scripts/preflight.py, deploy_agent.py, verify_cloud.py. Развёртывание использует vertexai.preview.reasoning_engines.ReasoningEngine.create. Для проверки нужно настроить Google ADC, включить API и billing, выбрать доступную модель и stagingbucket, выполнить deploy, затем реальный удалённый query. Не заявлять live Gemini или облачный API работающими без такой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2b371014047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5f1207fcf41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508e11d2d40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7075c04ea46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b04e092324f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36f5c3e7c4c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C0FE9E-2222-4438-88C7-CFA0A1CBD7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61A8DC-9C9C-4A59-BE0F-A5758E805A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1E6D1C-F7DF-46D1-9B24-722F5D3211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390982-CE16-447B-99E1-B41ADA8042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F6BD7FE-D95C-4EB4-A8F9-5B142C78F1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763670-BC2C-470C-ADD4-FDC59554C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7A03D7-E721-40B9-92F9-3BEBA57C0C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6D5604-2CD9-41BC-8762-D8C8A7CB96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E65989-2B9B-4E19-88E8-1C196E0A69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719BF8-965E-41CF-AE33-E44452557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c6114467e64f2f" /><Relationship Type="http://schemas.openxmlformats.org/officeDocument/2006/relationships/slideLayout" Target="/ppt/slideLayouts/slideLayout1.xml" Id="R5a91eaa68d8641c2" /><Relationship Type="http://schemas.openxmlformats.org/officeDocument/2006/relationships/slideLayout" Target="/ppt/slideLayouts/slideLayout2.xml" Id="Rffc47db8e7b44944" /><Relationship Type="http://schemas.openxmlformats.org/officeDocument/2006/relationships/slideLayout" Target="/ppt/slideLayouts/slideLayout3.xml" Id="Rc3177d773e764719" /><Relationship Type="http://schemas.openxmlformats.org/officeDocument/2006/relationships/slideLayout" Target="/ppt/slideLayouts/slideLayout4.xml" Id="R7501e71a67c94b7b" /><Relationship Type="http://schemas.openxmlformats.org/officeDocument/2006/relationships/slideLayout" Target="/ppt/slideLayouts/slideLayout5.xml" Id="Ra3020dc5e74648ae" /><Relationship Type="http://schemas.openxmlformats.org/officeDocument/2006/relationships/slideLayout" Target="/ppt/slideLayouts/slideLayout6.xml" Id="Rb37fcfa0db0344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91eaa68d8641c2"/>
    <p:sldLayoutId xmlns:r="http://schemas.openxmlformats.org/officeDocument/2006/relationships" id="2147483650" r:id="Rffc47db8e7b44944"/>
    <p:sldLayoutId xmlns:r="http://schemas.openxmlformats.org/officeDocument/2006/relationships" id="2147483651" r:id="Rc3177d773e764719"/>
    <p:sldLayoutId xmlns:r="http://schemas.openxmlformats.org/officeDocument/2006/relationships" id="2147483652" r:id="R7501e71a67c94b7b"/>
    <p:sldLayoutId xmlns:r="http://schemas.openxmlformats.org/officeDocument/2006/relationships" id="2147483653" r:id="Ra3020dc5e74648ae"/>
    <p:sldLayoutId xmlns:r="http://schemas.openxmlformats.org/officeDocument/2006/relationships" id="2147483654" r:id="Rb37fcfa0db0344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7db4010fb049d1" /><Relationship Type="http://schemas.openxmlformats.org/officeDocument/2006/relationships/notesSlide" Target="/ppt/notesSlides/notesSlide1.xml" Id="R8c9fc631ae5e43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80e320732f4b92" /><Relationship Type="http://schemas.openxmlformats.org/officeDocument/2006/relationships/notesSlide" Target="/ppt/notesSlides/notesSlide2.xml" Id="R5d27d5dbf3a948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733e2dd93c4c8a" /><Relationship Type="http://schemas.openxmlformats.org/officeDocument/2006/relationships/image" Target="/ppt/media/image.png" Id="Raec887307d96468a" /><Relationship Type="http://schemas.openxmlformats.org/officeDocument/2006/relationships/notesSlide" Target="/ppt/notesSlides/notesSlide3.xml" Id="Rbf2965105c4949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46fdbbfb5042c3" /><Relationship Type="http://schemas.openxmlformats.org/officeDocument/2006/relationships/notesSlide" Target="/ppt/notesSlides/notesSlide4.xml" Id="R8887adc77b8b46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9d4aeddd7f444a" /><Relationship Type="http://schemas.openxmlformats.org/officeDocument/2006/relationships/notesSlide" Target="/ppt/notesSlides/notesSlide5.xml" Id="R2325fd90926f4e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61b0b72c14656" /><Relationship Type="http://schemas.openxmlformats.org/officeDocument/2006/relationships/image" Target="/ppt/media/image2.png" Id="R1ddd971b651c4b78" /><Relationship Type="http://schemas.openxmlformats.org/officeDocument/2006/relationships/notesSlide" Target="/ppt/notesSlides/notesSlide6.xml" Id="Ra543a42d6ed147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b6c181a9a4ff9" /><Relationship Type="http://schemas.openxmlformats.org/officeDocument/2006/relationships/image" Target="/ppt/media/image3.png" Id="R3733a5b183a74846" /><Relationship Type="http://schemas.openxmlformats.org/officeDocument/2006/relationships/notesSlide" Target="/ppt/notesSlides/notesSlide7.xml" Id="R53c67b95da4d4f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e2db2620114919" /><Relationship Type="http://schemas.openxmlformats.org/officeDocument/2006/relationships/notesSlide" Target="/ppt/notesSlides/notesSlide8.xml" Id="R9d6a18ef3c8545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fa75fa9954402" /><Relationship Type="http://schemas.openxmlformats.org/officeDocument/2006/relationships/notesSlide" Target="/ppt/notesSlides/notesSlide9.xml" Id="R2262a8c0dbb149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746B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A5C275B1-623B-44C7-864F-BE04E2B0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C9F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CampusPulse AI">
            <a:extLst xmlns:a="http://schemas.openxmlformats.org/drawingml/2006/main">
              <a:ext uri="{FF2B5EF4-FFF2-40B4-BE49-F238E27FC236}">
                <a16:creationId xmlns:a16="http://schemas.microsoft.com/office/drawing/2014/main" id="{E1A50F78-1710-4C3A-A0BA-D38F6CF8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CampusPulse AI</a:t>
            </a:r>
          </a:p>
        </p:txBody>
      </p:sp>
      <p:sp>
        <p:nvSpPr>
          <p:cNvPr id="3" name="План подготовки на основе&#10;силлабуса и текущих">
            <a:extLst xmlns:a="http://schemas.openxmlformats.org/drawingml/2006/main">
              <a:ext uri="{FF2B5EF4-FFF2-40B4-BE49-F238E27FC236}">
                <a16:creationId xmlns:a16="http://schemas.microsoft.com/office/drawing/2014/main" id="{6E06D5EE-DF1D-41BC-96F7-3FEC0760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EEE6FA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EEE6FA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EEE6FA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EEE6FA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EEE6FA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EEE6FA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EEE6FA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EEE6FA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EEE6FA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EEE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EEE6FA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EEE6FA"/>
                </a:solidFill>
                <a:latin typeface="Arial"/>
                <a:ea typeface="Arial"/>
                <a:cs typeface="Arial"/>
              </a:rPr>
              <a:t>План подготовки на основе</a:t>
            </a:r>
          </a:p>
          <a:p xmlns:a="http://schemas.openxmlformats.org/drawingml/2006/main">
            <a:pPr>
              <a:defRPr sz="3150" b="0">
                <a:solidFill>
                  <a:srgbClr val="EEE6FA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EEE6FA"/>
                </a:solidFill>
                <a:latin typeface="Arial"/>
                <a:ea typeface="Arial"/>
                <a:cs typeface="Arial"/>
              </a:rPr>
              <a:t>силлабуса и текущих оценок</a:t>
            </a:r>
          </a:p>
        </p:txBody>
      </p:sp>
      <p:sp>
        <p:nvSpPr>
          <p:cNvPr id="4" name="Рабочий прототип для студентов">
            <a:extLst xmlns:a="http://schemas.openxmlformats.org/drawingml/2006/main">
              <a:ext uri="{FF2B5EF4-FFF2-40B4-BE49-F238E27FC236}">
                <a16:creationId xmlns:a16="http://schemas.microsoft.com/office/drawing/2014/main" id="{5C8310BC-4F8F-40B7-BF64-8533EFC6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8C9F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C9F1"/>
                </a:solidFill>
                <a:latin typeface="Arial"/>
                <a:ea typeface="Arial"/>
                <a:cs typeface="Arial"/>
              </a:rPr>
              <a:t>Рабочий прототип для студентов</a:t>
            </a:r>
          </a:p>
        </p:txBody>
      </p:sp>
    </p:spTree>
    <p:extLst>
      <p:ext uri="{BB962C8B-B14F-4D97-AF65-F5344CB8AC3E}">
        <p14:creationId xmlns:p14="http://schemas.microsoft.com/office/powerpoint/2010/main" val="436349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CCB867-7CEB-454D-B4C2-80597E84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B2540"/>
                </a:solidFill>
                <a:latin typeface="Arial"/>
                <a:ea typeface="Arial"/>
                <a:cs typeface="Arial"/>
              </a:rPr>
              <a:t>Учебная нагрузка студента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A7659771-7E79-4F97-91F2-3D6D110D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«Сколько нужно набрать,&#10;и на что потратить ве">
            <a:extLst xmlns:a="http://schemas.openxmlformats.org/drawingml/2006/main">
              <a:ext uri="{FF2B5EF4-FFF2-40B4-BE49-F238E27FC236}">
                <a16:creationId xmlns:a16="http://schemas.microsoft.com/office/drawing/2014/main" id="{7D46EFFB-0E0E-4208-ADC3-2DB4BF0D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6746BB"/>
                </a:solidFill>
                <a:latin typeface="Arial"/>
                <a:ea typeface="Arial"/>
                <a:cs typeface="Arial"/>
              </a:rPr>
              <a:t>«Сколько нужно набрать,</a:t>
            </a:r>
          </a:p>
          <a:p xmlns:a="http://schemas.openxmlformats.org/drawingml/2006/main">
            <a:pPr>
              <a:defRPr sz="35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6746BB"/>
                </a:solidFill>
                <a:latin typeface="Arial"/>
                <a:ea typeface="Arial"/>
                <a:cs typeface="Arial"/>
              </a:rPr>
              <a:t>и на что потратить вечер?»</a:t>
            </a:r>
          </a:p>
        </p:txBody>
      </p:sp>
      <p:sp>
        <p:nvSpPr>
          <p:cNvPr id="4" name="Веса работ спрятаны в силлабусе">
            <a:extLst xmlns:a="http://schemas.openxmlformats.org/drawingml/2006/main">
              <a:ext uri="{FF2B5EF4-FFF2-40B4-BE49-F238E27FC236}">
                <a16:creationId xmlns:a16="http://schemas.microsoft.com/office/drawing/2014/main" id="{13FF94DE-9D18-4BF4-86C4-55C6E627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B2540"/>
                </a:solidFill>
                <a:latin typeface="Arial"/>
                <a:ea typeface="Arial"/>
                <a:cs typeface="Arial"/>
              </a:rPr>
              <a:t>Веса работ спрятаны в силлабусе</a:t>
            </a:r>
          </a:p>
        </p:txBody>
      </p:sp>
      <p:sp>
        <p:nvSpPr>
          <p:cNvPr id="5" name="Одинаковая оценка по-разному влияет на итог.">
            <a:extLst xmlns:a="http://schemas.openxmlformats.org/drawingml/2006/main">
              <a:ext uri="{FF2B5EF4-FFF2-40B4-BE49-F238E27FC236}">
                <a16:creationId xmlns:a16="http://schemas.microsoft.com/office/drawing/2014/main" id="{98062E2C-0F0D-4209-A0A3-89653297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Одинаковая оценка по-разному влияет на итог.</a:t>
            </a:r>
          </a:p>
        </p:txBody>
      </p:sp>
      <p:sp>
        <p:nvSpPr>
          <p:cNvPr id="6" name="Предметы конкурируют за свободное время">
            <a:extLst xmlns:a="http://schemas.openxmlformats.org/drawingml/2006/main">
              <a:ext uri="{FF2B5EF4-FFF2-40B4-BE49-F238E27FC236}">
                <a16:creationId xmlns:a16="http://schemas.microsoft.com/office/drawing/2014/main" id="{3D5A6D63-FDB7-4C8A-BC49-DE3209FC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B2540"/>
                </a:solidFill>
                <a:latin typeface="Arial"/>
                <a:ea typeface="Arial"/>
                <a:cs typeface="Arial"/>
              </a:rPr>
              <a:t>Предметы конкурируют за свободное время</a:t>
            </a:r>
          </a:p>
        </p:txBody>
      </p:sp>
      <p:sp>
        <p:nvSpPr>
          <p:cNvPr id="7" name="CampusPulse показывает достижимую цель и конк">
            <a:extLst xmlns:a="http://schemas.openxmlformats.org/drawingml/2006/main">
              <a:ext uri="{FF2B5EF4-FFF2-40B4-BE49-F238E27FC236}">
                <a16:creationId xmlns:a16="http://schemas.microsoft.com/office/drawing/2014/main" id="{AB0B86D3-C199-4F04-84CE-A0FF01A5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CampusPulse показывает достижимую цель и конкретный план подготовки.</a:t>
            </a:r>
          </a:p>
        </p:txBody>
      </p:sp>
    </p:spTree>
    <p:extLst>
      <p:ext uri="{BB962C8B-B14F-4D97-AF65-F5344CB8AC3E}">
        <p14:creationId xmlns:p14="http://schemas.microsoft.com/office/powerpoint/2010/main" val="8190679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68C213-62F1-4665-8A0C-67D9F5DB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B2540"/>
                </a:solidFill>
                <a:latin typeface="Arial"/>
                <a:ea typeface="Arial"/>
                <a:cs typeface="Arial"/>
              </a:rPr>
              <a:t>Четыре предмета и ближайший шаг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8257B36B-F1B2-4319-B26C-23351D59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908E2-A6F5-4370-83A4-FDB5D9A93E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887307d96468a"/>
          <a:stretch xmlns:a="http://schemas.openxmlformats.org/drawingml/2006/main"/>
        </p:blipFill>
        <p:spPr>
          <a:xfrm xmlns:a="http://schemas.openxmlformats.org/drawingml/2006/main">
            <a:off x="2608169" y="1362075"/>
            <a:ext cx="6975662" cy="4743450"/>
          </a:xfrm>
          <a:prstGeom xmlns:a="http://schemas.openxmlformats.org/drawingml/2006/main" prst="rect">
            <a:avLst/>
          </a:prstGeom>
        </p:spPr>
      </p:pic>
      <p:sp>
        <p:nvSpPr>
          <p:cNvPr id="4" name="Ближайший учебный блок уже учитывает оценки, ">
            <a:extLst xmlns:a="http://schemas.openxmlformats.org/drawingml/2006/main">
              <a:ext uri="{FF2B5EF4-FFF2-40B4-BE49-F238E27FC236}">
                <a16:creationId xmlns:a16="http://schemas.microsoft.com/office/drawing/2014/main" id="{81A0436A-6002-42E4-8C77-C524A55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Ближайший учебный блок уже учитывает оценки, кредиты и занятое время</a:t>
            </a:r>
          </a:p>
        </p:txBody>
      </p:sp>
    </p:spTree>
    <p:extLst>
      <p:ext uri="{BB962C8B-B14F-4D97-AF65-F5344CB8AC3E}">
        <p14:creationId xmlns:p14="http://schemas.microsoft.com/office/powerpoint/2010/main" val="1738767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F4780D-14C2-44C7-88A0-8497C2FE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B2540"/>
                </a:solidFill>
                <a:latin typeface="Arial"/>
                <a:ea typeface="Arial"/>
                <a:cs typeface="Arial"/>
              </a:rPr>
              <a:t>Вес каждой работы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57AB4C1D-F6BE-42DD-A4C3-41D55169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High Performance Computing, 5 кредитов">
            <a:extLst xmlns:a="http://schemas.openxmlformats.org/drawingml/2006/main">
              <a:ext uri="{FF2B5EF4-FFF2-40B4-BE49-F238E27FC236}">
                <a16:creationId xmlns:a16="http://schemas.microsoft.com/office/drawing/2014/main" id="{14DBE4A3-398D-4888-AC1D-89A49369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High Performance Computing, 5 кредитов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5D77B-5D33-44BD-83A5-C01CE3147167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657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4724400"/>
                <a:gridCol w="2762250"/>
              </a:tblGrid>
              <a:tr h="457200">
                <a:tc>
                  <a:txBody>
                    <a:bodyPr lIns="1333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T w="5715">
                      <a:solidFill>
                        <a:srgbClr val="D8D0E1"/>
                      </a:solidFill>
                      <a:prstDash val="solid"/>
                    </a:lnT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6746BB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Внутри этапа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T w="5715">
                      <a:solidFill>
                        <a:srgbClr val="D8D0E1"/>
                      </a:solidFill>
                      <a:prstDash val="solid"/>
                    </a:lnT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6746BB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Вклад в итог, 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T w="5715">
                      <a:solidFill>
                        <a:srgbClr val="D8D0E1"/>
                      </a:solidFill>
                      <a:prstDash val="solid"/>
                    </a:lnT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6746BB"/>
                    </a:solidFill>
                  </a:tcPr>
                </a:tc>
              </a:tr>
              <a:tr h="457200"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Assignment 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40% от 1-й аттестации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Midterm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60% от 1-й аттестации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Assignment 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20% от 2-й аттестации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Assignment 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20% от 2-й аттестации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Endterm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60% от 2-й аттестации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Final exam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100% финального экзамена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746BB"/>
                          </a:solidFill>
                          <a:latin typeface="Arial"/>
                          <a:ea typeface="Arial"/>
                          <a:cs typeface="Arial"/>
                        </a:rPr>
                        <a:t>Всего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746BB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6746BB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5" name="Итог = 0,3 × Аттестация 1 + 0,3 × Аттестация ">
            <a:extLst xmlns:a="http://schemas.openxmlformats.org/drawingml/2006/main">
              <a:ext uri="{FF2B5EF4-FFF2-40B4-BE49-F238E27FC236}">
                <a16:creationId xmlns:a16="http://schemas.microsoft.com/office/drawing/2014/main" id="{E64D36AF-E46B-4715-ADBE-342A5CD5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746BB"/>
                </a:solidFill>
                <a:latin typeface="Arial"/>
                <a:ea typeface="Arial"/>
                <a:cs typeface="Arial"/>
              </a:rPr>
              <a:t>Итог = 0,3 × Аттестация 1 + 0,3 × Аттестация 2 + 0,4 × Final</a:t>
            </a:r>
          </a:p>
        </p:txBody>
      </p:sp>
    </p:spTree>
    <p:extLst>
      <p:ext uri="{BB962C8B-B14F-4D97-AF65-F5344CB8AC3E}">
        <p14:creationId xmlns:p14="http://schemas.microsoft.com/office/powerpoint/2010/main" val="15428231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E7E547-FCFD-4689-B573-3B27F5BA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B2540"/>
                </a:solidFill>
                <a:latin typeface="Arial"/>
                <a:ea typeface="Arial"/>
                <a:cs typeface="Arial"/>
              </a:rPr>
              <a:t>Реалистичная цель по предмету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AC822371-9D9D-4459-B288-8DE49218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78%">
            <a:extLst xmlns:a="http://schemas.openxmlformats.org/drawingml/2006/main">
              <a:ext uri="{FF2B5EF4-FFF2-40B4-BE49-F238E27FC236}">
                <a16:creationId xmlns:a16="http://schemas.microsoft.com/office/drawing/2014/main" id="{AA4A7CE4-6F4D-47A4-9F1C-723C6446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95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defPPr>
            <a:lvl1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1pPr>
            <a:lvl2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2pPr>
            <a:lvl3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3pPr>
            <a:lvl4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4pPr>
            <a:lvl5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5pPr>
            <a:lvl6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6pPr>
            <a:lvl7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7pPr>
            <a:lvl8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8pPr>
            <a:lvl9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6746BB"/>
                </a:solidFill>
                <a:latin typeface="Arial"/>
                <a:ea typeface="Arial"/>
                <a:cs typeface="Arial"/>
              </a:rPr>
              <a:t>78%</a:t>
            </a:r>
          </a:p>
        </p:txBody>
      </p:sp>
      <p:sp>
        <p:nvSpPr>
          <p:cNvPr id="4" name="Текущий средний">
            <a:extLst xmlns:a="http://schemas.openxmlformats.org/drawingml/2006/main">
              <a:ext uri="{FF2B5EF4-FFF2-40B4-BE49-F238E27FC236}">
                <a16:creationId xmlns:a16="http://schemas.microsoft.com/office/drawing/2014/main" id="{30450CF7-5CD3-4E76-970A-5BB757F2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Текущий средний</a:t>
            </a:r>
          </a:p>
        </p:txBody>
      </p:sp>
      <p:sp>
        <p:nvSpPr>
          <p:cNvPr id="5" name="93,4">
            <a:extLst xmlns:a="http://schemas.openxmlformats.org/drawingml/2006/main">
              <a:ext uri="{FF2B5EF4-FFF2-40B4-BE49-F238E27FC236}">
                <a16:creationId xmlns:a16="http://schemas.microsoft.com/office/drawing/2014/main" id="{131BF4D8-AC4B-40A5-AA7E-305E8BB4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90650"/>
            <a:ext cx="314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7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577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577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577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577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577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577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577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577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577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2B2540"/>
                </a:solidFill>
                <a:latin typeface="Arial"/>
                <a:ea typeface="Arial"/>
                <a:cs typeface="Arial"/>
              </a:rPr>
              <a:t>93,4</a:t>
            </a:r>
          </a:p>
        </p:txBody>
      </p:sp>
      <p:sp>
        <p:nvSpPr>
          <p:cNvPr id="6" name="Максимально возможный итог">
            <a:extLst xmlns:a="http://schemas.openxmlformats.org/drawingml/2006/main">
              <a:ext uri="{FF2B5EF4-FFF2-40B4-BE49-F238E27FC236}">
                <a16:creationId xmlns:a16="http://schemas.microsoft.com/office/drawing/2014/main" id="{D4140275-5661-42C0-A3FB-E7497227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3362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Максимально возможный итог</a:t>
            </a:r>
          </a:p>
        </p:txBody>
      </p:sp>
      <p:sp>
        <p:nvSpPr>
          <p:cNvPr id="7" name="90">
            <a:extLst xmlns:a="http://schemas.openxmlformats.org/drawingml/2006/main">
              <a:ext uri="{FF2B5EF4-FFF2-40B4-BE49-F238E27FC236}">
                <a16:creationId xmlns:a16="http://schemas.microsoft.com/office/drawing/2014/main" id="{E8B12AA2-FE7D-4398-9A03-E04666AE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90650"/>
            <a:ext cx="2286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defPPr>
            <a:lvl1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1pPr>
            <a:lvl2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2pPr>
            <a:lvl3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3pPr>
            <a:lvl4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4pPr>
            <a:lvl5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5pPr>
            <a:lvl6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6pPr>
            <a:lvl7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7pPr>
            <a:lvl8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8pPr>
            <a:lvl9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6746B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8" name="Новая цель вместо 95">
            <a:extLst xmlns:a="http://schemas.openxmlformats.org/drawingml/2006/main">
              <a:ext uri="{FF2B5EF4-FFF2-40B4-BE49-F238E27FC236}">
                <a16:creationId xmlns:a16="http://schemas.microsoft.com/office/drawing/2014/main" id="{5FEE428E-CB03-4295-8E91-02ADA291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Новая цель вместо 95</a:t>
            </a:r>
          </a:p>
        </p:txBody>
      </p:sp>
      <p:sp>
        <p:nvSpPr>
          <p:cNvPr id="9" name="75 за Assignment 1 и 80 за Midterm. Уже набра">
            <a:extLst xmlns:a="http://schemas.openxmlformats.org/drawingml/2006/main">
              <a:ext uri="{FF2B5EF4-FFF2-40B4-BE49-F238E27FC236}">
                <a16:creationId xmlns:a16="http://schemas.microsoft.com/office/drawing/2014/main" id="{E0CEE928-7619-4D30-8A81-190DDE47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75 за Assignment 1 и 80 за Midterm. Уже набрано 23,4 из итоговых 100.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7B159-9E71-42AE-89B0-C5C956F9C2BA}"/>
              </a:ext>
            </a:extLst>
          </p:cNvPr>
          <p:cNvGraphicFramePr/>
          <p:nvPr/>
        </p:nvGraphicFramePr>
        <p:xfrm>
          <a:off xmlns:a="http://schemas.openxmlformats.org/drawingml/2006/main" x="685800" y="3857625"/>
          <a:ext xmlns:a="http://schemas.openxmlformats.org/drawingml/2006/main" cx="10820400" cy="2143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857750"/>
                <a:gridCol w="2286000"/>
                <a:gridCol w="3676650"/>
              </a:tblGrid>
              <a:tr h="428625">
                <a:tc>
                  <a:txBody>
                    <a:bodyPr lIns="1333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Оставшаяся работа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T w="5715">
                      <a:solidFill>
                        <a:srgbClr val="D8D0E1"/>
                      </a:solidFill>
                      <a:prstDash val="solid"/>
                    </a:lnT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6746BB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Вес в итоге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T w="5715">
                      <a:solidFill>
                        <a:srgbClr val="D8D0E1"/>
                      </a:solidFill>
                      <a:prstDash val="solid"/>
                    </a:lnT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6746BB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Равномерный план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T w="5715">
                      <a:solidFill>
                        <a:srgbClr val="D8D0E1"/>
                      </a:solidFill>
                      <a:prstDash val="solid"/>
                    </a:lnT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6746BB"/>
                    </a:solidFill>
                  </a:tcPr>
                </a:tc>
              </a:tr>
              <a:tr h="428625"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Assignment 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96 / 100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  <a:tr h="428625"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Assignment 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96 / 100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  <a:tr h="428625"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Endterm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18%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96 / 100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  <a:tr h="428625"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Final exam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D0E1"/>
                      </a:solidFill>
                      <a:prstDash val="solid"/>
                    </a:lnL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40%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lIns="133350" tIns="66675" rIns="95250" bIns="66675"/>
                    <a:lstStyle/>
                    <a:p>
                      <a:r>
                        <a:rPr sz="1800" b="0">
                          <a:solidFill>
                            <a:srgbClr val="2B2540"/>
                          </a:solidFill>
                          <a:latin typeface="Arial"/>
                          <a:ea typeface="Arial"/>
                          <a:cs typeface="Arial"/>
                        </a:rPr>
                        <a:t>96 / 100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D0E1"/>
                      </a:solidFill>
                      <a:prstDash val="solid"/>
                    </a:lnR>
                    <a:lnB w="5715">
                      <a:solidFill>
                        <a:srgbClr val="D8D0E1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11" name="План даёт итог 90,6. Баллы можно перераспреде">
            <a:extLst xmlns:a="http://schemas.openxmlformats.org/drawingml/2006/main">
              <a:ext uri="{FF2B5EF4-FFF2-40B4-BE49-F238E27FC236}">
                <a16:creationId xmlns:a16="http://schemas.microsoft.com/office/drawing/2014/main" id="{68B1911A-C769-4A5B-9046-30915615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План даёт итог 90,6. Баллы можно перераспределить между работами.</a:t>
            </a:r>
          </a:p>
        </p:txBody>
      </p:sp>
    </p:spTree>
    <p:extLst>
      <p:ext uri="{BB962C8B-B14F-4D97-AF65-F5344CB8AC3E}">
        <p14:creationId xmlns:p14="http://schemas.microsoft.com/office/powerpoint/2010/main" val="955862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78A1B0-C2F7-4748-9F40-AC590815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B2540"/>
                </a:solidFill>
                <a:latin typeface="Arial"/>
                <a:ea typeface="Arial"/>
                <a:cs typeface="Arial"/>
              </a:rPr>
              <a:t>Подготовка по материалам предмета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940A5F71-5F19-4FFD-BF8D-70C016F9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4D6D0-A706-4370-9134-63CB4E615B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d971b651c4b78"/>
          <a:stretch xmlns:a="http://schemas.openxmlformats.org/drawingml/2006/main"/>
        </p:blipFill>
        <p:spPr>
          <a:xfrm xmlns:a="http://schemas.openxmlformats.org/drawingml/2006/main">
            <a:off x="1746621" y="1362075"/>
            <a:ext cx="8698758" cy="4743450"/>
          </a:xfrm>
          <a:prstGeom xmlns:a="http://schemas.openxmlformats.org/drawingml/2006/main" prst="rect">
            <a:avLst/>
          </a:prstGeom>
        </p:spPr>
      </p:pic>
      <p:sp>
        <p:nvSpPr>
          <p:cNvPr id="4" name="Конспект, карточки и вопросы опираются на выб">
            <a:extLst xmlns:a="http://schemas.openxmlformats.org/drawingml/2006/main">
              <a:ext uri="{FF2B5EF4-FFF2-40B4-BE49-F238E27FC236}">
                <a16:creationId xmlns:a16="http://schemas.microsoft.com/office/drawing/2014/main" id="{733731A3-A8AD-4D0D-9D04-8126EC38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Конспект, карточки и вопросы опираются на выбранный учебный материал</a:t>
            </a:r>
          </a:p>
        </p:txBody>
      </p:sp>
    </p:spTree>
    <p:extLst>
      <p:ext uri="{BB962C8B-B14F-4D97-AF65-F5344CB8AC3E}">
        <p14:creationId xmlns:p14="http://schemas.microsoft.com/office/powerpoint/2010/main" val="10410502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DBCAED-A1AE-4B54-A6C3-4943452D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B2540"/>
                </a:solidFill>
                <a:latin typeface="Arial"/>
                <a:ea typeface="Arial"/>
                <a:cs typeface="Arial"/>
              </a:rPr>
              <a:t>Календарь подготовки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B4353519-6078-4810-A7BE-9A60958C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DC877-2C45-4885-80E9-27F9AD85ED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3a5b183a74846"/>
          <a:stretch xmlns:a="http://schemas.openxmlformats.org/drawingml/2006/main"/>
        </p:blipFill>
        <p:spPr>
          <a:xfrm xmlns:a="http://schemas.openxmlformats.org/drawingml/2006/main">
            <a:off x="2371236" y="1362075"/>
            <a:ext cx="7449529" cy="4743450"/>
          </a:xfrm>
          <a:prstGeom xmlns:a="http://schemas.openxmlformats.org/drawingml/2006/main" prst="rect">
            <a:avLst/>
          </a:prstGeom>
        </p:spPr>
      </p:pic>
      <p:sp>
        <p:nvSpPr>
          <p:cNvPr id="4" name="Занятия и личные дела оставляют реальные своб">
            <a:extLst xmlns:a="http://schemas.openxmlformats.org/drawingml/2006/main">
              <a:ext uri="{FF2B5EF4-FFF2-40B4-BE49-F238E27FC236}">
                <a16:creationId xmlns:a16="http://schemas.microsoft.com/office/drawing/2014/main" id="{B3692D3A-9F78-4F01-8792-6BF359EA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Занятия и личные дела оставляют реальные свободные окна для учёбы</a:t>
            </a:r>
          </a:p>
        </p:txBody>
      </p:sp>
    </p:spTree>
    <p:extLst>
      <p:ext uri="{BB962C8B-B14F-4D97-AF65-F5344CB8AC3E}">
        <p14:creationId xmlns:p14="http://schemas.microsoft.com/office/powerpoint/2010/main" val="1494126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F825D-D23F-4C6A-8540-9D9BBABD13E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>
            <a:off x="11506200" y="2147888"/>
            <a:ext cx="228600" cy="2805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6746BB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6A1CB-DD23-4191-9D2D-7982D4C1483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81875" y="2147888"/>
            <a:ext cx="1171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46BB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F4F01-70A3-454D-9BDE-CA1B3F3E0EA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48050" y="2147888"/>
            <a:ext cx="1171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46BB"/>
            </a:solidFill>
            <a:prstDash val="solid"/>
            <a:tailEnd type="triangle" w="sm" len="sm"/>
          </a:ln>
        </p:spPr>
      </p:cxnSp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E1AD3D-4DAB-4CAF-8505-A2A13D88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B2540"/>
                </a:solidFill>
                <a:latin typeface="Arial"/>
                <a:ea typeface="Arial"/>
                <a:cs typeface="Arial"/>
              </a:rPr>
              <a:t>Архитектура и цикл агента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44789D5B-A8CE-462A-9430-D559B41E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Веб-клиент">
            <a:extLst xmlns:a="http://schemas.openxmlformats.org/drawingml/2006/main">
              <a:ext uri="{FF2B5EF4-FFF2-40B4-BE49-F238E27FC236}">
                <a16:creationId xmlns:a16="http://schemas.microsoft.com/office/drawing/2014/main" id="{6D3EF6F9-D41E-4AD8-AA57-54CF86B3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762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8"/>
          </a:solidFill>
          <a:ln xmlns:a="http://schemas.openxmlformats.org/drawingml/2006/main" w="9525">
            <a:solidFill>
              <a:srgbClr val="6746B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Веб-клиент</a:t>
            </a:r>
          </a:p>
          <a:p xmlns:a="http://schemas.openxmlformats.org/drawingml/2006/main">
            <a: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FastAPI и сессия</a:t>
            </a:r>
          </a:p>
        </p:txBody>
      </p:sp>
      <p:sp>
        <p:nvSpPr>
          <p:cNvPr id="4" name="Gemini / локальный режим">
            <a:extLst xmlns:a="http://schemas.openxmlformats.org/drawingml/2006/main">
              <a:ext uri="{FF2B5EF4-FFF2-40B4-BE49-F238E27FC236}">
                <a16:creationId xmlns:a16="http://schemas.microsoft.com/office/drawing/2014/main" id="{06C15032-531E-474D-ABE6-2BAAF24D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47825"/>
            <a:ext cx="2762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8"/>
          </a:solidFill>
          <a:ln xmlns:a="http://schemas.openxmlformats.org/drawingml/2006/main" w="9525">
            <a:solidFill>
              <a:srgbClr val="6746B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Gemini / локальный режим</a:t>
            </a:r>
          </a:p>
          <a:p xmlns:a="http://schemas.openxmlformats.org/drawingml/2006/main">
            <a: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выбор действия</a:t>
            </a:r>
          </a:p>
        </p:txBody>
      </p:sp>
      <p:sp>
        <p:nvSpPr>
          <p:cNvPr id="5" name="ToolHub">
            <a:extLst xmlns:a="http://schemas.openxmlformats.org/drawingml/2006/main">
              <a:ext uri="{FF2B5EF4-FFF2-40B4-BE49-F238E27FC236}">
                <a16:creationId xmlns:a16="http://schemas.microsoft.com/office/drawing/2014/main" id="{BBACD486-3E8E-4061-A636-3833B74D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47825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8"/>
          </a:solidFill>
          <a:ln xmlns:a="http://schemas.openxmlformats.org/drawingml/2006/main" w="9525">
            <a:solidFill>
              <a:srgbClr val="6746B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ToolHub</a:t>
            </a:r>
          </a:p>
          <a:p xmlns:a="http://schemas.openxmlformats.org/drawingml/2006/main">
            <a: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аргументы и результат</a:t>
            </a:r>
          </a:p>
        </p:txBody>
      </p:sp>
      <p:sp>
        <p:nvSpPr>
          <p:cNvPr id="8" name="MCP-сервер">
            <a:extLst xmlns:a="http://schemas.openxmlformats.org/drawingml/2006/main">
              <a:ext uri="{FF2B5EF4-FFF2-40B4-BE49-F238E27FC236}">
                <a16:creationId xmlns:a16="http://schemas.microsoft.com/office/drawing/2014/main" id="{0B1A972D-F3D6-4126-BA9F-BFE745FA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9580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46B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MCP-сервер</a:t>
            </a:r>
          </a:p>
          <a:p xmlns:a="http://schemas.openxmlformats.org/drawingml/2006/main">
            <a:pPr algn="ctr">
              <a:defRPr sz="1875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current_time</a:t>
            </a:r>
          </a:p>
        </p:txBody>
      </p:sp>
      <p:sp>
        <p:nvSpPr>
          <p:cNvPr id="10" name="Function Calling">
            <a:extLst xmlns:a="http://schemas.openxmlformats.org/drawingml/2006/main">
              <a:ext uri="{FF2B5EF4-FFF2-40B4-BE49-F238E27FC236}">
                <a16:creationId xmlns:a16="http://schemas.microsoft.com/office/drawing/2014/main" id="{85DA53F1-6E96-4E03-B3A9-A9FF8F65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746BB"/>
                </a:solidFill>
                <a:latin typeface="Arial"/>
                <a:ea typeface="Arial"/>
                <a:cs typeface="Arial"/>
              </a:rPr>
              <a:t>Function Calling</a:t>
            </a:r>
          </a:p>
        </p:txBody>
      </p:sp>
      <p:sp>
        <p:nvSpPr>
          <p:cNvPr id="11" name="academic_overview&#10;academic_plan&#10;syllabus_weig">
            <a:extLst xmlns:a="http://schemas.openxmlformats.org/drawingml/2006/main">
              <a:ext uri="{FF2B5EF4-FFF2-40B4-BE49-F238E27FC236}">
                <a16:creationId xmlns:a16="http://schemas.microsoft.com/office/drawing/2014/main" id="{BD865AB4-E892-4325-BE34-76807533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619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academic_overview</a:t>
            </a:r>
          </a:p>
          <a:p xmlns:a="http://schemas.openxmlformats.org/drawingml/2006/main">
            <a: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academic_plan</a:t>
            </a:r>
          </a:p>
          <a:p xmlns:a="http://schemas.openxmlformats.org/drawingml/2006/main">
            <a:pPr>
              <a:defRPr sz="22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syllabus_weights</a:t>
            </a:r>
          </a:p>
        </p:txBody>
      </p:sp>
      <p:sp>
        <p:nvSpPr>
          <p:cNvPr id="12" name="Результат инструмента возвращается агенту для">
            <a:extLst xmlns:a="http://schemas.openxmlformats.org/drawingml/2006/main">
              <a:ext uri="{FF2B5EF4-FFF2-40B4-BE49-F238E27FC236}">
                <a16:creationId xmlns:a16="http://schemas.microsoft.com/office/drawing/2014/main" id="{8CDD27CD-4105-4EE4-90D2-2DD15889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Результат инструмента возвращается агенту для следующего шага</a:t>
            </a:r>
          </a:p>
        </p:txBody>
      </p:sp>
    </p:spTree>
    <p:extLst>
      <p:ext uri="{BB962C8B-B14F-4D97-AF65-F5344CB8AC3E}">
        <p14:creationId xmlns:p14="http://schemas.microsoft.com/office/powerpoint/2010/main" val="663012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3EF9CE-54A2-4EEF-81B9-A5C89BE2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B2540"/>
                </a:solidFill>
                <a:latin typeface="Arial"/>
                <a:ea typeface="Arial"/>
                <a:cs typeface="Arial"/>
              </a:rPr>
              <a:t>Google Cloud: путь развёртывания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83FC6845-60C3-4FEF-972C-E7FE1B89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campuspulse-ai-511817">
            <a:extLst xmlns:a="http://schemas.openxmlformats.org/drawingml/2006/main">
              <a:ext uri="{FF2B5EF4-FFF2-40B4-BE49-F238E27FC236}">
                <a16:creationId xmlns:a16="http://schemas.microsoft.com/office/drawing/2014/main" id="{153E6A41-5EAE-4CB8-BB4A-1C18ED23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6746B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746BB"/>
                </a:solidFill>
                <a:latin typeface="Arial"/>
                <a:ea typeface="Arial"/>
                <a:cs typeface="Arial"/>
              </a:rPr>
              <a:t>campuspulse-ai-511817</a:t>
            </a:r>
          </a:p>
        </p:txBody>
      </p:sp>
      <p:sp>
        <p:nvSpPr>
          <p:cNvPr id="4" name="Локальный прототип работает">
            <a:extLst xmlns:a="http://schemas.openxmlformats.org/drawingml/2006/main">
              <a:ext uri="{FF2B5EF4-FFF2-40B4-BE49-F238E27FC236}">
                <a16:creationId xmlns:a16="http://schemas.microsoft.com/office/drawing/2014/main" id="{94F405FB-5491-4582-888C-438D045B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B2540"/>
                </a:solidFill>
                <a:latin typeface="Arial"/>
                <a:ea typeface="Arial"/>
                <a:cs typeface="Arial"/>
              </a:rPr>
              <a:t>Локальный прототип работает</a:t>
            </a:r>
          </a:p>
        </p:txBody>
      </p:sp>
      <p:sp>
        <p:nvSpPr>
          <p:cNvPr id="5" name="Расчёты оценок, импорт силлабуса, расписание ">
            <a:extLst xmlns:a="http://schemas.openxmlformats.org/drawingml/2006/main">
              <a:ext uri="{FF2B5EF4-FFF2-40B4-BE49-F238E27FC236}">
                <a16:creationId xmlns:a16="http://schemas.microsoft.com/office/drawing/2014/main" id="{5F7B7A57-FA15-4D13-926E-C58B9BE6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57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Расчёты оценок, импорт силлабуса, расписание и журнал инструментов.</a:t>
            </a:r>
          </a:p>
        </p:txBody>
      </p:sp>
      <p:sp>
        <p:nvSpPr>
          <p:cNvPr id="6" name="Облачный запуск требует проверки">
            <a:extLst xmlns:a="http://schemas.openxmlformats.org/drawingml/2006/main">
              <a:ext uri="{FF2B5EF4-FFF2-40B4-BE49-F238E27FC236}">
                <a16:creationId xmlns:a16="http://schemas.microsoft.com/office/drawing/2014/main" id="{58AADDFE-21AF-4DD6-A637-C1C8297C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B66C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B66C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B66C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B66C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B66C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B66C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B66C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B66C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B66C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B66C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B66C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B66C4D"/>
                </a:solidFill>
                <a:latin typeface="Arial"/>
                <a:ea typeface="Arial"/>
                <a:cs typeface="Arial"/>
              </a:rPr>
              <a:t>Облачный запуск требует проверки</a:t>
            </a:r>
          </a:p>
        </p:txBody>
      </p:sp>
      <p:sp>
        <p:nvSpPr>
          <p:cNvPr id="7" name="Google ADC и доступы, Vertex AI, staging buck">
            <a:extLst xmlns:a="http://schemas.openxmlformats.org/drawingml/2006/main">
              <a:ext uri="{FF2B5EF4-FFF2-40B4-BE49-F238E27FC236}">
                <a16:creationId xmlns:a16="http://schemas.microsoft.com/office/drawing/2014/main" id="{6E963271-195D-4828-97A6-CC390373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Google ADC и доступы, Vertex AI, staging bucket, затем ReasoningEngine.create.</a:t>
            </a:r>
          </a:p>
        </p:txBody>
      </p:sp>
      <p:sp>
        <p:nvSpPr>
          <p:cNvPr id="8" name="Google OAuth настроен. Вход в аккаунт ещё не ">
            <a:extLst xmlns:a="http://schemas.openxmlformats.org/drawingml/2006/main">
              <a:ext uri="{FF2B5EF4-FFF2-40B4-BE49-F238E27FC236}">
                <a16:creationId xmlns:a16="http://schemas.microsoft.com/office/drawing/2014/main" id="{D1631356-CF6A-499B-AADC-F8703154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B25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B2540"/>
                </a:solidFill>
                <a:latin typeface="Arial"/>
                <a:ea typeface="Arial"/>
                <a:cs typeface="Arial"/>
              </a:rPr>
              <a:t>Google OAuth настроен. Вход в аккаунт ещё не подтверждён.</a:t>
            </a:r>
          </a:p>
        </p:txBody>
      </p:sp>
      <p:sp>
        <p:nvSpPr>
          <p:cNvPr id="9" name="verify_cloud фиксирует успешный вызов API пос">
            <a:extLst xmlns:a="http://schemas.openxmlformats.org/drawingml/2006/main">
              <a:ext uri="{FF2B5EF4-FFF2-40B4-BE49-F238E27FC236}">
                <a16:creationId xmlns:a16="http://schemas.microsoft.com/office/drawing/2014/main" id="{72D9C239-5E0D-438A-B36B-CA6DA211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46A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6A80"/>
                </a:solidFill>
                <a:latin typeface="Arial"/>
                <a:ea typeface="Arial"/>
                <a:cs typeface="Arial"/>
              </a:rPr>
              <a:t>verify_cloud фиксирует успешный вызов API после развёртывания.</a:t>
            </a:r>
          </a:p>
        </p:txBody>
      </p:sp>
    </p:spTree>
    <p:extLst>
      <p:ext uri="{BB962C8B-B14F-4D97-AF65-F5344CB8AC3E}">
        <p14:creationId xmlns:p14="http://schemas.microsoft.com/office/powerpoint/2010/main" val="248629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2026-10-20T17:09:20.4330000Z</dcterms:created>
  <dcterms:modified xsi:type="dcterms:W3CDTF">2026-10-20T17:09:20.4330000Z</dcterms:modified>
</coreProperties>
</file>